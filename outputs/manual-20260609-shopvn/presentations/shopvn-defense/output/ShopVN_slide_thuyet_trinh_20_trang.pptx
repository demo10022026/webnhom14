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 rot="1200000">
            <a:off x="7863840" y="-457200"/>
            <a:ext cx="5303520" cy="5303520"/>
          </a:xfrm>
          <a:prstGeom prst="arc">
            <a:avLst/>
          </a:prstGeom>
          <a:solidFill>
            <a:srgbClr val="FF6A14">
              <a:alpha val="88000"/>
            </a:srgbClr>
          </a:solidFill>
          <a:ln w="12700">
            <a:solidFill>
              <a:srgbClr val="FF6A1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14"/>
                </a:solidFill>
              </a:rPr>
              <a:t>ShopVN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6309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XÂY DỰNG WEBSITE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THƯƠNG MẠI ĐIỆN TỬ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94944" y="29535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Báo cáo đồ án tốt nghiệp • Thời lượng trình bày slide: 20 phút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858768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1725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858768"/>
            <a:ext cx="73152" cy="132588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402336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Sinh viên thực hiện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4425696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50" dirty="0">
                <a:solidFill>
                  <a:srgbClr val="E2E8F0"/>
                </a:solidFill>
              </a:rPr>
              <a:t>Lường Quốc Khánh - 154802070079</a:t>
            </a:r>
            <a:endParaRPr lang="en-US" sz="950" dirty="0"/>
          </a:p>
          <a:p>
            <a:r>
              <a:rPr lang="en-US" sz="950" dirty="0">
                <a:solidFill>
                  <a:srgbClr val="E2E8F0"/>
                </a:solidFill>
              </a:rPr>
              <a:t>Lưu Thị Mai Yến - 154802070175</a:t>
            </a:r>
            <a:endParaRPr lang="en-US" sz="950" dirty="0"/>
          </a:p>
          <a:p>
            <a:r>
              <a:rPr lang="en-US" sz="950" dirty="0">
                <a:solidFill>
                  <a:srgbClr val="E2E8F0"/>
                </a:solidFill>
              </a:rPr>
              <a:t>Phạm Tuấn Huy - 154802070076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3858768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1725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3858768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402336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Thông tin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0288" y="442569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50" dirty="0">
                <a:solidFill>
                  <a:srgbClr val="E2E8F0"/>
                </a:solidFill>
              </a:rPr>
              <a:t>GVHD: ThS. Đào Văn Tiến</a:t>
            </a:r>
            <a:endParaRPr lang="en-US" sz="950" dirty="0"/>
          </a:p>
          <a:p>
            <a:r>
              <a:rPr lang="en-US" sz="950" dirty="0">
                <a:solidFill>
                  <a:srgbClr val="E2E8F0"/>
                </a:solidFill>
              </a:rPr>
              <a:t>Ngành: Lập trình máy tính</a:t>
            </a:r>
            <a:endParaRPr lang="en-US" sz="950" dirty="0"/>
          </a:p>
          <a:p>
            <a:r>
              <a:rPr lang="en-US" sz="950" dirty="0">
                <a:solidFill>
                  <a:srgbClr val="E2E8F0"/>
                </a:solidFill>
              </a:rPr>
              <a:t>Hà Nội, năm 2026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248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20 slides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001000" y="4526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Sau phần slide sẽ demo trực tiếp web thực tế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Mục tiêu buổi trình bày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Đi từ bài toán đến giải pháp, sau đó dành thời gian còn lại để demo trực tiếp.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299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14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Bài toán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312724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Vì sao cần một website thương mại điện tử nhiều vai trò.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29584" y="182880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0299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14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9040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Giải pháp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312724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ShopVN: người mua, seller, manager, admin trên cùng nền tảng.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45936" y="182880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0299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14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65392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Kỹ thuật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312724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React + Spring Boot + MySQL + JWT + Cloudinary + SePay.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62288" y="182880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81744" y="20299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14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81744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Kết quả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81744" y="312724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Các luồng chính chạy được và có thể demo thực tế.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62356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Phân bổ thời gian: mỗi slide ~1 phút, phần demo web 5-10 phút tùy hội đồng đặt câu hỏi.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Bài toán và phạm vi đề tài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Xây dựng nền tảng mua bán trực tuyến có phân quyền rõ và dữ liệu vận hành thực tế.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600200"/>
            <a:ext cx="73152" cy="3520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647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Vấn đề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167128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Nhu cầu mua bán online cần hệ thống tập trung.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Người bán cần quản lý shop, sản phẩm, đơn hàng.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Quản trị cần duyệt seller, kiểm soát sản phẩm và thống kê.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370832" y="160020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1600200"/>
            <a:ext cx="73152" cy="352044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647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Mục tiêu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167128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Xây dựng website ShopVN theo mô hình frontend - backend tách biệt.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Hỗ trợ người mua, seller, manager và admin.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Có checkout, địa chỉ, thanh toán demo SePay và dashboard.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055864" y="160020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55864" y="1600200"/>
            <a:ext cx="73152" cy="3520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7647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Phạm vi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2167128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Tập trung vào nghiệp vụ lõi thương mại điện tử.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Chưa đi sâu vận chuyển thực tế, hoàn tiền nâng cao và gợi ý sản phẩm.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Demo bằng dữ liệu thật trên môi trường dev/deploy.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 vai trò trong hệ thống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ShopVN được thiết kế quanh 4 nhóm người dùng chính.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04672" y="1691640"/>
            <a:ext cx="49834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691640"/>
            <a:ext cx="73152" cy="1444752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56232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User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258568"/>
            <a:ext cx="4581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Tìm kiếm, xem chi tiết, giỏ hàng, đặt hàng, thanh toán, đánh giá, chat.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36792" y="1691640"/>
            <a:ext cx="49834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1691640"/>
            <a:ext cx="73152" cy="1444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56232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Seller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258568"/>
            <a:ext cx="4581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Đăng ký shop, xác minh hồ sơ, quản lý sản phẩm, đơn hàng, chat khách.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" y="3611880"/>
            <a:ext cx="49834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611880"/>
            <a:ext cx="73152" cy="1444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76472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Manager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178808"/>
            <a:ext cx="4581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Quản lý dữ liệu được phân quyền, kiểm tra sản phẩm/seller theo phạm vi.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36792" y="3611880"/>
            <a:ext cx="49834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3611880"/>
            <a:ext cx="73152" cy="144475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776472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Admin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4178808"/>
            <a:ext cx="4581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Toàn quyền hệ thống, duyệt seller, thống kê, quản trị người dùng.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99048" y="1463040"/>
            <a:ext cx="0" cy="4114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Phạm vi chức năng đã triển khai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Các module được gom theo nghiệp vụ để demo có trình tự.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508760"/>
            <a:ext cx="73152" cy="150876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67335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</a:rPr>
              <a:t>Tài khoản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2075688"/>
            <a:ext cx="28437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Đăng ký, đăng nhập, OTP, refresh token, upload avatar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5087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50876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7335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</a:rPr>
              <a:t>Sản phẩm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81728" y="2075688"/>
            <a:ext cx="28437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Danh mục, thương hiệu, biến thể, ảnh, tồn kho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75320" y="15087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508760"/>
            <a:ext cx="73152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167335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</a:rPr>
              <a:t>Mua hàng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76488" y="2075688"/>
            <a:ext cx="28437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Giỏ hàng, địa chỉ phân cấp, voucher, checkout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520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520440"/>
            <a:ext cx="73152" cy="150876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6850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</a:rPr>
              <a:t>Thanh toán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86968" y="4087368"/>
            <a:ext cx="28437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COD và SePay/VietQR qua QR + webhook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3520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520440"/>
            <a:ext cx="73152" cy="15087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6850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</a:rPr>
              <a:t>Seller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81728" y="4087368"/>
            <a:ext cx="28437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Onboarding, shop profile, ngân hàng, sản phẩm, chat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75320" y="3520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75320" y="3520440"/>
            <a:ext cx="7315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76488" y="36850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</a:rPr>
              <a:t>Quản trị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476488" y="4087368"/>
            <a:ext cx="28437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Dashboard, duyệt seller, quản lý user/product/order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Công nghệ sử dụng - khái quát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Chỉ chọn các công nghệ phục vụ trực tiếp cho kiến trúc và demo.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1907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16002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171907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TypeScript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160020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FF6A14"/>
          </a:solidFill>
          <a:ln w="12700">
            <a:solidFill>
              <a:srgbClr val="FF6A1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171907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600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3832" y="171907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Spring Boot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69480" y="16002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171907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Spring Security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372600" y="160020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171907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MySQL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233172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45059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JPA/Hibernate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23317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45059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JWT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0" y="23317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245059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Cloudinary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233172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FF6A14"/>
          </a:solidFill>
          <a:ln w="12700">
            <a:solidFill>
              <a:srgbClr val="FF6A1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45059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SePay/VietQR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43800" y="233172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16952" y="245059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Railway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98280" y="2331720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1432" y="245059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Cloudflare Tunnel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7240" y="370332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37033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" y="38679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Frontend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8408" y="4270248"/>
            <a:ext cx="3072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SPA, responsive UI, gọi REST API, xử lý token và trạng thái checkout.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34840" y="370332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34840" y="370332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6008" y="38679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Backend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36008" y="4270248"/>
            <a:ext cx="3072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REST API, service layer, validation, JWT, upload, webhook và phân quyền.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92440" y="370332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92440" y="3703320"/>
            <a:ext cx="73152" cy="123444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93608" y="38679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Data &amp; Deploy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93608" y="4270248"/>
            <a:ext cx="3072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MySQL/Aiven, Cloudinary, Railway backend, tunnel cho webhook local.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Kiến trúc tổng quan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Frontend và backend tách biệt, giao tiếp qua REST API.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488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1343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Trình duyệt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2715768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20" dirty="0">
                <a:solidFill>
                  <a:srgbClr val="374151"/>
                </a:solidFill>
              </a:rPr>
              <a:t>React SPA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Router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State/UI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337560" y="21488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148840"/>
            <a:ext cx="73152" cy="141732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231343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REST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4448" y="2715768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20" dirty="0">
                <a:solidFill>
                  <a:srgbClr val="374151"/>
                </a:solidFill>
              </a:rPr>
              <a:t>HTTP/JSON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JWT header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Validation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806440" y="21488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214884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07608" y="231343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Spring Boot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53328" y="2715768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20" dirty="0">
                <a:solidFill>
                  <a:srgbClr val="374151"/>
                </a:solidFill>
              </a:rPr>
              <a:t>Controller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Service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Repository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458200" y="21488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58200" y="2148840"/>
            <a:ext cx="73152" cy="1417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59368" y="231343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MySQL + Cloud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05088" y="2715768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20" dirty="0">
                <a:solidFill>
                  <a:srgbClr val="374151"/>
                </a:solidFill>
              </a:rPr>
              <a:t>Aiven MySQL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Cloudinary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SePay/Railway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880360" y="2834640"/>
            <a:ext cx="393192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32120" y="2834640"/>
            <a:ext cx="210312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38160" y="2834640"/>
            <a:ext cx="256032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96596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Auth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Business logic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1812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</a:rPr>
              <a:t>Persistence &amp; external services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Backend: tổ chức theo lớp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Spring Boot giữ nghiệp vụ tập trung và dễ kiểm thử.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914400" y="1481328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481328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64592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Controller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15568" y="2048256"/>
            <a:ext cx="3621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74151"/>
                </a:solidFill>
              </a:rPr>
              <a:t>Nhận request, validate input cơ bản, trả response chuẩn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926080" y="2267712"/>
            <a:ext cx="0" cy="219456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2532888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532888"/>
            <a:ext cx="73152" cy="749808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69748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Service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15568" y="3099816"/>
            <a:ext cx="3621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74151"/>
                </a:solidFill>
              </a:rPr>
              <a:t>Xử lý nghiệp vụ: order, seller, payment, upload, dashboard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2926080" y="3319272"/>
            <a:ext cx="0" cy="219456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" y="3584448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584448"/>
            <a:ext cx="731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74904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Repository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15568" y="4151376"/>
            <a:ext cx="3621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74151"/>
                </a:solidFill>
              </a:rPr>
              <a:t>JPA/Hibernate truy vấn MySQL theo entity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926080" y="4370832"/>
            <a:ext cx="0" cy="219456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" y="4636008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636008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48006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Security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15568" y="5202936"/>
            <a:ext cx="3621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74151"/>
                </a:solidFill>
              </a:rPr>
              <a:t>JWT filter, role-based access, refresh token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486400" y="1481328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481328"/>
            <a:ext cx="73152" cy="3931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1645920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Điểm đáng chú 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33288" y="2048256"/>
            <a:ext cx="4937760" cy="3246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30" dirty="0">
                <a:solidFill>
                  <a:srgbClr val="374151"/>
                </a:solidFill>
              </a:rPr>
              <a:t>Token ngắn hạn + refresh token lưu DB để đăng xuất/chặn phiên.</a:t>
            </a:r>
            <a:endParaRPr lang="en-US" sz="1030" dirty="0"/>
          </a:p>
          <a:p>
            <a:r>
              <a:rPr lang="en-US" sz="1030" dirty="0">
                <a:solidFill>
                  <a:srgbClr val="374151"/>
                </a:solidFill>
              </a:rPr>
              <a:t>Upload ảnh qua Cloudinary thay vì lưu file local.</a:t>
            </a:r>
            <a:endParaRPr lang="en-US" sz="1030" dirty="0"/>
          </a:p>
          <a:p>
            <a:r>
              <a:rPr lang="en-US" sz="1030" dirty="0">
                <a:solidFill>
                  <a:srgbClr val="374151"/>
                </a:solidFill>
              </a:rPr>
              <a:t>Webhook SePay cập nhật payment/order theo giao dịch nhận được.</a:t>
            </a:r>
            <a:endParaRPr lang="en-US" sz="1030" dirty="0"/>
          </a:p>
          <a:p>
            <a:r>
              <a:rPr lang="en-US" sz="1030" dirty="0">
                <a:solidFill>
                  <a:srgbClr val="374151"/>
                </a:solidFill>
              </a:rPr>
              <a:t>Phân quyền admin/manager/seller/user theo route API.</a:t>
            </a:r>
            <a:endParaRPr lang="en-US" sz="1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Frontend: trải nghiệm người dùng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React SPA tập trung vào luồng mua hàng và quản lý theo vai trò.</a:t>
            </a:r>
            <a:endParaRPr lang="en-US" sz="1080" dirty="0"/>
          </a:p>
        </p:txBody>
      </p:sp>
      <p:pic>
        <p:nvPicPr>
          <p:cNvPr id="8" name="Image 0" descr="D:\Đồ án\ecommerce\.report_work\screenshot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532120" cy="3520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240" y="1508760"/>
            <a:ext cx="4800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508760"/>
            <a:ext cx="73152" cy="105156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93408" y="1673352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Điểm chính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39128" y="207568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20" dirty="0">
                <a:solidFill>
                  <a:srgbClr val="374151"/>
                </a:solidFill>
              </a:rPr>
              <a:t>Thanh header chung: tìm kiếm, giỏ hàng, thông báo, tài khoản.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Trang chủ/danh sách/chi tiết sản phẩm dùng dữ liệu API.</a:t>
            </a:r>
            <a:endParaRPr lang="en-US" sz="920" dirty="0"/>
          </a:p>
          <a:p>
            <a:r>
              <a:rPr lang="en-US" sz="920" dirty="0">
                <a:solidFill>
                  <a:srgbClr val="374151"/>
                </a:solidFill>
              </a:rPr>
              <a:t>Protected routes chuyển người dùng chưa login về trang đăng nhập.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92240" y="292608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292608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309067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Login/Register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93408" y="3493008"/>
            <a:ext cx="1837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Form validation, OTP email, điều hướng theo role.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52560" y="292608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052560" y="292608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53728" y="309067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Checkout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53728" y="3493008"/>
            <a:ext cx="1837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Địa chỉ phân cấp, voucher, COD/SePay.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92240" y="457200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92240" y="4572000"/>
            <a:ext cx="73152" cy="74980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4736592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Mục tiêu UI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93408" y="5138928"/>
            <a:ext cx="439826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</a:rPr>
              <a:t>Dễ demo, rõ luồng, ít thao tác thừa khi kiểm thử.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Cơ sở dữ liệu: ERD cập nhật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Schema phục vụ mô hình sàn nhiều người bán, không chỉ shop đơn lẻ.</a:t>
            </a:r>
            <a:endParaRPr lang="en-US" sz="1080" dirty="0"/>
          </a:p>
        </p:txBody>
      </p:sp>
      <p:pic>
        <p:nvPicPr>
          <p:cNvPr id="8" name="Image 0" descr="D:\Đồ án\ecommerce\.report_work\assets\default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57150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65392" y="1325880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325880"/>
            <a:ext cx="73152" cy="452628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1490472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Nhóm bảng chính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12280" y="1892808"/>
            <a:ext cx="434340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10" dirty="0">
                <a:solidFill>
                  <a:srgbClr val="374151"/>
                </a:solidFill>
              </a:rPr>
              <a:t>users, refresh_tokens, otp_codes, user_addresses</a:t>
            </a:r>
            <a:endParaRPr lang="en-US" sz="910" dirty="0"/>
          </a:p>
          <a:p>
            <a:r>
              <a:rPr lang="en-US" sz="910" dirty="0">
                <a:solidFill>
                  <a:srgbClr val="374151"/>
                </a:solidFill>
              </a:rPr>
              <a:t>seller_profiles, seller_documents, shops, seller_bank_accounts</a:t>
            </a:r>
            <a:endParaRPr lang="en-US" sz="910" dirty="0"/>
          </a:p>
          <a:p>
            <a:r>
              <a:rPr lang="en-US" sz="910" dirty="0">
                <a:solidFill>
                  <a:srgbClr val="374151"/>
                </a:solidFill>
              </a:rPr>
              <a:t>products, product_variants, product_images, categories, brands</a:t>
            </a:r>
            <a:endParaRPr lang="en-US" sz="910" dirty="0"/>
          </a:p>
          <a:p>
            <a:r>
              <a:rPr lang="en-US" sz="910" dirty="0">
                <a:solidFill>
                  <a:srgbClr val="374151"/>
                </a:solidFill>
              </a:rPr>
              <a:t>shopping_carts, cart_items, orders, order_items, payments</a:t>
            </a:r>
            <a:endParaRPr lang="en-US" sz="910" dirty="0"/>
          </a:p>
          <a:p>
            <a:r>
              <a:rPr lang="en-US" sz="910" dirty="0">
                <a:solidFill>
                  <a:srgbClr val="374151"/>
                </a:solidFill>
              </a:rPr>
              <a:t>vouchers, user_vouchers, flash_sale_items</a:t>
            </a:r>
            <a:endParaRPr lang="en-US" sz="910" dirty="0"/>
          </a:p>
          <a:p>
            <a:r>
              <a:rPr lang="en-US" sz="910" dirty="0">
                <a:solidFill>
                  <a:srgbClr val="374151"/>
                </a:solidFill>
              </a:rPr>
              <a:t>chat_conversations, chat_messages, notifications, reviews</a:t>
            </a:r>
            <a:endParaRPr lang="en-US" sz="9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Một số bảng và quan hệ quan trọng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Các quan hệ được chọn theo nghiệp vụ demo.</a:t>
            </a:r>
            <a:endParaRPr lang="en-US" sz="108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10881360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4069080"/>
                <a:gridCol w="498348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Nghiệp vụ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Bảng chính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Ý nghĩa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Tài khoản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users, refresh_tokens, otp_codes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Đăng nhập, OTP, phiên người dùng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seller_profiles, shops, seller_bank_accounts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Hồ sơ bán hàng và nhận tiền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Sản phẩm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products, product_variants, product_images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Sản phẩm nhiều biến thể/ảnh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Đơn hàng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orders, order_items, payments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Lưu đơn, dòng hàng, trạng thái thanh toán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Tương tác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chat_conversations, notifications, reviews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Chat, thông báo, đánh giá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58368" y="1417320"/>
            <a:ext cx="10881360" cy="66751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1645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Nghiệp vụ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487168" y="16459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Bảng chính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01968" y="16459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Ý nghĩa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7240" y="580644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6B7280"/>
                </a:solidFill>
              </a:rPr>
              <a:t>Bảng này dùng để giải thích ERD nhanh trong lúc thuyết trình; phần chi tiết xem báo cáo.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Luồng mua hàng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Luồng chính của người dùng từ sản phẩm đến đơn hàng.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3317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496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Tìm kiếm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95528" y="2898648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74151"/>
                </a:solidFill>
              </a:rPr>
              <a:t>Keyword / danh mục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2167128" y="2880360"/>
            <a:ext cx="292608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96312" y="23317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23317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496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Chi tiết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697480" y="2898648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74151"/>
                </a:solidFill>
              </a:rPr>
              <a:t>Ảnh, biến thể, giá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069080" y="2880360"/>
            <a:ext cx="292608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98264" y="23317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98264" y="23317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2496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Giỏ hàng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4599432" y="2898648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74151"/>
                </a:solidFill>
              </a:rPr>
              <a:t>Số lượng, tồn kho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971032" y="2880360"/>
            <a:ext cx="292608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0216" y="23317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0216" y="23317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1384" y="2496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Checkout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6501384" y="2898648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74151"/>
                </a:solidFill>
              </a:rPr>
              <a:t>Địa chỉ, voucher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872984" y="2880360"/>
            <a:ext cx="292608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02168" y="23317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02168" y="2331720"/>
            <a:ext cx="73152" cy="114300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336" y="2496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Thanh toán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8403336" y="2898648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74151"/>
                </a:solidFill>
              </a:rPr>
              <a:t>COD hoặc SePay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9774936" y="2880360"/>
            <a:ext cx="292608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04120" y="23317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04120" y="23317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05288" y="2496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Đơn mua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10305288" y="2898648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74151"/>
                </a:solidFill>
              </a:rPr>
              <a:t>Theo dõi trạng thái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1051560" y="425196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51560" y="425196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52728" y="44165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Địa chỉ phân cấp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52728" y="4818888"/>
            <a:ext cx="2569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Chọn tỉnh → quận/huyện → phường/xã; địa chỉ mới hiển thị lại ở checkout.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425196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4251960"/>
            <a:ext cx="73152" cy="96012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44165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Voucher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18888" y="4818888"/>
            <a:ext cx="2569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Áp dụng điều kiện đơn tối thiểu, số lượt dùng và phạm vi shop/sàn.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83880" y="425196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83880" y="4251960"/>
            <a:ext cx="73152" cy="9601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85048" y="44165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Trạng thái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385048" y="4818888"/>
            <a:ext cx="2569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Order và payment được cập nhật riêng để dễ đối soát.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Thanh toán SePay/VietQR realtime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Luồng demo online đã thay cho nút mô phỏng thủ công.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6596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305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1. Tạo đơn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532888"/>
            <a:ext cx="14721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Backend tạo order + payment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71800" y="196596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71800" y="1965960"/>
            <a:ext cx="73152" cy="114300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21305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2. Hiển thị QR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72968" y="2532888"/>
            <a:ext cx="14721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Frontend sinh QR theo số tiền/nội dung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212080" y="196596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196596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1305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3. SePay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13248" y="2532888"/>
            <a:ext cx="14721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Nhận giao dịch test mode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452360" y="196596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1965960"/>
            <a:ext cx="73152" cy="1143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21305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4. Webhook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53528" y="2532888"/>
            <a:ext cx="14721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POST về backend public URL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692640" y="196596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92640" y="1965960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21305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5. Redirect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893808" y="2532888"/>
            <a:ext cx="14721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Polling thấy PAID → Đơn mua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606040" y="2532888"/>
            <a:ext cx="320040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46320" y="2532888"/>
            <a:ext cx="320040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086600" y="2532888"/>
            <a:ext cx="320040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26880" y="2532888"/>
            <a:ext cx="320040" cy="0"/>
          </a:xfrm>
          <a:prstGeom prst="line">
            <a:avLst/>
          </a:prstGeom>
          <a:noFill/>
          <a:ln w="25400">
            <a:solidFill>
              <a:srgbClr val="FF6A14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97280" y="41605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97280" y="4160520"/>
            <a:ext cx="73152" cy="1143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98448" y="4325112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Điểm kỹ thuật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44168" y="47274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10" dirty="0">
                <a:solidFill>
                  <a:srgbClr val="374151"/>
                </a:solidFill>
              </a:rPr>
              <a:t>Webhook xác thực API key.</a:t>
            </a:r>
            <a:endParaRPr lang="en-US" sz="910" dirty="0"/>
          </a:p>
          <a:p>
            <a:r>
              <a:rPr lang="en-US" sz="910" dirty="0">
                <a:solidFill>
                  <a:srgbClr val="374151"/>
                </a:solidFill>
              </a:rPr>
              <a:t>Đối chiếu mã đơn/nội dung giao dịch.</a:t>
            </a:r>
            <a:endParaRPr lang="en-US" sz="910" dirty="0"/>
          </a:p>
          <a:p>
            <a:r>
              <a:rPr lang="en-US" sz="910" dirty="0">
                <a:solidFill>
                  <a:srgbClr val="374151"/>
                </a:solidFill>
              </a:rPr>
              <a:t>Cập nhật payment/order theo trạng thái thanh toán.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6400800" y="41605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4160520"/>
            <a:ext cx="73152" cy="114300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4325112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Điểm demo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47688" y="47274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10" dirty="0">
                <a:solidFill>
                  <a:srgbClr val="374151"/>
                </a:solidFill>
              </a:rPr>
              <a:t>Có thể test bằng SePay test mode.</a:t>
            </a:r>
            <a:endParaRPr lang="en-US" sz="910" dirty="0"/>
          </a:p>
          <a:p>
            <a:r>
              <a:rPr lang="en-US" sz="910" dirty="0">
                <a:solidFill>
                  <a:srgbClr val="374151"/>
                </a:solidFill>
              </a:rPr>
              <a:t>Local dùng Cloudflare Tunnel; deploy dùng Railway URL.</a:t>
            </a:r>
            <a:endParaRPr lang="en-US" sz="910" dirty="0"/>
          </a:p>
          <a:p>
            <a:r>
              <a:rPr lang="en-US" sz="910" dirty="0">
                <a:solidFill>
                  <a:srgbClr val="374151"/>
                </a:solidFill>
              </a:rPr>
              <a:t>Không còn nút mô phỏng thanh toán trên UI.</a:t>
            </a:r>
            <a:endParaRPr lang="en-US" sz="9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 onboarding và quản lý shop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Seller có hồ sơ riêng trước khi được phép bán hàng.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2880360" cy="31546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508760"/>
            <a:ext cx="73152" cy="3154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7335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Đăng ký seller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2075688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Nhập thông tin định danh.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Upload giấy tờ xác minh.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Chờ admin/manager duyệt.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3886200" y="1508760"/>
            <a:ext cx="2880360" cy="31546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86200" y="1508760"/>
            <a:ext cx="73152" cy="315468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7368" y="167335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Thiết lập shop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33088" y="2075688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Tên shop, mô tả, avatar, banner.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Thông tin ngân hàng nhận tiền.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Trạng thái shop hoạt động/tạm khóa.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7040880" y="1508760"/>
            <a:ext cx="2880360" cy="31546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508760"/>
            <a:ext cx="73152" cy="3154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67335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Vận hành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87768" y="2075688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Quản lý sản phẩm và tồn kho.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Xem đơn hàng của shop.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Chat với khách hàng đúng tên người mua.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3639312" y="2606040"/>
            <a:ext cx="219456" cy="594360"/>
          </a:xfrm>
          <a:prstGeom prst="chevron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3992" y="2606040"/>
            <a:ext cx="219456" cy="594360"/>
          </a:xfrm>
          <a:prstGeom prst="chevron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/ Manager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Quản trị dữ liệu và kiểm soát vận hành theo quyền.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417320"/>
            <a:ext cx="73152" cy="3611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581912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Admin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984248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Toàn quyền hệ thống.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Duyệt seller và quản lý tài khoản.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Quản lý sản phẩm, danh mục, thương hiệu.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Theo dõi dashboard doanh thu/đơn hàng.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417320"/>
            <a:ext cx="73152" cy="3611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581912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Manager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1968" y="1984248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Được phép thao tác một phần chức năng quản trị.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Kiểm thử quyền được dùng và không được dùng.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Giúp tách trách nhiệm vận hành khỏi quyền admin cao nhất.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914400" y="57150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Ý chính khi demo: đăng nhập admin/manager để cho thấy menu, API và route đều bị ràng buộc theo role.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 chức năng hỗ trợ trải nghiệm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Những phần nhỏ nhưng làm hệ thống giống sản phẩm thật hơn.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49808" y="1463040"/>
            <a:ext cx="3182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463040"/>
            <a:ext cx="73152" cy="141732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6276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</a:rPr>
              <a:t>Avatar người dùng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50976" y="2029968"/>
            <a:ext cx="2779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Upload qua Cloudinary, cập nhật hồ sơ cá nhân.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480560" y="1463040"/>
            <a:ext cx="3182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4630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276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</a:rPr>
              <a:t>Địa chỉ của tôi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681728" y="2029968"/>
            <a:ext cx="2779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Có menu riêng trong dropdown tài khoản.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211312" y="1463040"/>
            <a:ext cx="3182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146304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6276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</a:rPr>
              <a:t>Chat với shop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0" y="2029968"/>
            <a:ext cx="2779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User thấy tên shop, seller thấy tên khách hàng.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49808" y="3474720"/>
            <a:ext cx="3182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474720"/>
            <a:ext cx="73152" cy="1417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63931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</a:rPr>
              <a:t>Thông báo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950976" y="4041648"/>
            <a:ext cx="2779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Lưu thông báo theo user, loại, nội dung, link đích.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480560" y="3474720"/>
            <a:ext cx="3182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474720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63931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</a:rPr>
              <a:t>Voucher/Flash sale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4681728" y="4041648"/>
            <a:ext cx="2779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Nền tảng khuyến mãi theo điều kiện và thời gian.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11312" y="3474720"/>
            <a:ext cx="3182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11312" y="3474720"/>
            <a:ext cx="73152" cy="141732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63931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</a:rPr>
              <a:t>Review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412480" y="4041648"/>
            <a:ext cx="2779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Đánh giá sản phẩm sau mua hàng.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Kiểm thử hệ thống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Tập trung vào các luồng có rủi ro cao và phân quyền.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73152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49047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Auth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841248" y="1892808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Đăng ký, đăng nhập, OTP, refresh token, token hết hạn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73152" cy="9326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49047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Checkout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419088" y="1892808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Giỏ hàng, địa chỉ, voucher, tạo order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43200"/>
            <a:ext cx="73152" cy="932688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90779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Payment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41248" y="3310128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QR, webhook SePay, polling, trạng thái PAID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743200"/>
            <a:ext cx="73152" cy="93268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90779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Seller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6419088" y="3310128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Onboarding, duyệt seller, quản lý shop/sản phẩm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160520"/>
            <a:ext cx="73152" cy="9326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32511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Admin/Manager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841248" y="4727448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Chức năng được phép và không được phép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217920" y="416052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160520"/>
            <a:ext cx="73152" cy="93268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432511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UI/API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419088" y="4727448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Delay load, lỗi input, CORS, response lỗi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Triển khai và môi trường demo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Backend đã chạy được trên cloud; frontend có thể chạy local hoặc deploy riêng.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31089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508760"/>
            <a:ext cx="73152" cy="2971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67335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Local dev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075688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run.bat hỗ trợ chạy dự án.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Frontend: Vite localhost:5173.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Backend: Spring Boot localhost:8080.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526280" y="1508760"/>
            <a:ext cx="31089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508760"/>
            <a:ext cx="73152" cy="297180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67335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Webhook dev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73168" y="2075688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Cloudflare Tunnel tạo HTTPS tạm.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SePay test mode gọi về backend local.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Dùng để kiểm tra realtime trước deploy.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275320" y="1508760"/>
            <a:ext cx="31089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508760"/>
            <a:ext cx="73152" cy="2971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167335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Deploy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22208" y="2075688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374151"/>
                </a:solidFill>
              </a:rPr>
              <a:t>Backend deploy Railway.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Database Aiven MySQL.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Cloudinary lưu ảnh.</a:t>
            </a:r>
            <a:endParaRPr lang="en-US" sz="960" dirty="0"/>
          </a:p>
          <a:p>
            <a:r>
              <a:rPr lang="en-US" sz="960" dirty="0">
                <a:solidFill>
                  <a:srgbClr val="374151"/>
                </a:solidFill>
              </a:rPr>
              <a:t>Frontend có thể deploy Vercel/Netlify.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Public backend đã dùng trong quá trình tích hợp: Railway service URL + /api endpoints.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Kịch bản demo trực tiếp sau slide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6012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Chọn các luồng chứng minh đúng phần kỹ thuật vừa trình bày.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475488" cy="4754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44475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3533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User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1371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Đăng nhập / tìm sản phẩm / thêm giỏ / checkout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194560"/>
            <a:ext cx="475488" cy="4754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231343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2219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Địa chỉ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3240" y="2240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Tạo địa chỉ theo tỉnh → quận → xã và dùng ngay ở thanh toán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3063240"/>
            <a:ext cx="475488" cy="475488"/>
          </a:xfrm>
          <a:prstGeom prst="ellipse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318211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30906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SePay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63240" y="31089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Tạo QR, mô phỏng giao dịch test mode, webhook cập nhật đơn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3931920"/>
            <a:ext cx="475488" cy="4754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405079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39593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Seller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63240" y="39776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Shop, sản phẩm, chat hiển thị tên khách hàng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800600"/>
            <a:ext cx="475488" cy="4754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" y="491947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4828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Admin/Manager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63240" y="4846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Dashboard, duyệt seller, kiểm tra phân quyền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52578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38160" y="5257800"/>
            <a:ext cx="73152" cy="77724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9328" y="54223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Nguyên tắc demo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39328" y="5824728"/>
            <a:ext cx="252374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74151"/>
                </a:solidFill>
              </a:rPr>
              <a:t>Đi chậm ở đoạn load dữ liệu, không click quá nhanh để tránh hiểu nhầm lỗi mạng/database.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ShopVN | Đồ án tốt nghiệp |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Kết luận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ShopVN đã hoàn thành nền tảng thương mại điện tử nhiều vai trò, có luồng mua hàng, seller, quản trị và thanh toán demo realtime.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5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4320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90779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Đạt được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3310128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E2E8F0"/>
                </a:solidFill>
              </a:rPr>
              <a:t>Frontend/backend tách biệt</a:t>
            </a:r>
            <a:endParaRPr lang="en-US" sz="960" dirty="0"/>
          </a:p>
          <a:p>
            <a:r>
              <a:rPr lang="en-US" sz="960" dirty="0">
                <a:solidFill>
                  <a:srgbClr val="E2E8F0"/>
                </a:solidFill>
              </a:rPr>
              <a:t>Schema đầy đủ cho sàn nhiều seller</a:t>
            </a:r>
            <a:endParaRPr lang="en-US" sz="960" dirty="0"/>
          </a:p>
          <a:p>
            <a:r>
              <a:rPr lang="en-US" sz="960" dirty="0">
                <a:solidFill>
                  <a:srgbClr val="E2E8F0"/>
                </a:solidFill>
              </a:rPr>
              <a:t>SePay webhook demo hoạt động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480560" y="2743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5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743200"/>
            <a:ext cx="73152" cy="1417320"/>
          </a:xfrm>
          <a:prstGeom prst="rect">
            <a:avLst/>
          </a:prstGeom>
          <a:solidFill>
            <a:srgbClr val="FF6A14"/>
          </a:solidFill>
          <a:ln w="12700">
            <a:solidFill>
              <a:srgbClr val="FF6A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90779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Hạn chế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7448" y="3310128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E2E8F0"/>
                </a:solidFill>
              </a:rPr>
              <a:t>Vận chuyển/hoàn tiền còn đơn giản</a:t>
            </a:r>
            <a:endParaRPr lang="en-US" sz="960" dirty="0"/>
          </a:p>
          <a:p>
            <a:r>
              <a:rPr lang="en-US" sz="960" dirty="0">
                <a:solidFill>
                  <a:srgbClr val="E2E8F0"/>
                </a:solidFill>
              </a:rPr>
              <a:t>Chưa tối ưu tìm kiếm dữ liệu lớn</a:t>
            </a:r>
            <a:endParaRPr lang="en-US" sz="960" dirty="0"/>
          </a:p>
          <a:p>
            <a:r>
              <a:rPr lang="en-US" sz="960" dirty="0">
                <a:solidFill>
                  <a:srgbClr val="E2E8F0"/>
                </a:solidFill>
              </a:rPr>
              <a:t>Cần hardening production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183880" y="2743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5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74320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290779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Hướng phát triển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0768" y="3310128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60" dirty="0">
                <a:solidFill>
                  <a:srgbClr val="E2E8F0"/>
                </a:solidFill>
              </a:rPr>
              <a:t>Chat realtime</a:t>
            </a:r>
            <a:endParaRPr lang="en-US" sz="960" dirty="0"/>
          </a:p>
          <a:p>
            <a:r>
              <a:rPr lang="en-US" sz="960" dirty="0">
                <a:solidFill>
                  <a:srgbClr val="E2E8F0"/>
                </a:solidFill>
              </a:rPr>
              <a:t>Gợi ý sản phẩm</a:t>
            </a:r>
            <a:endParaRPr lang="en-US" sz="960" dirty="0"/>
          </a:p>
          <a:p>
            <a:r>
              <a:rPr lang="en-US" sz="960" dirty="0">
                <a:solidFill>
                  <a:srgbClr val="E2E8F0"/>
                </a:solidFill>
              </a:rPr>
              <a:t>Giám sát webhook và báo cáo nâng cao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77240" y="5303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14"/>
                </a:solidFill>
              </a:rPr>
              <a:t>Cảm ơn thầy/cô đã lắng nghe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4672" y="57424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Tiếp theo: demo trực tiếp website ShopVN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Truong Cao Dang Bach Khoa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ShopVN - Website thuong mai dien tu</dc:title>
  <dc:subject>Bao cao do an ShopVN</dc:subject>
  <dc:creator>ShopVN Team</dc:creator>
  <cp:lastModifiedBy>ShopVN Team</cp:lastModifiedBy>
  <cp:revision>1</cp:revision>
  <dcterms:created xsi:type="dcterms:W3CDTF">2026-06-09T16:00:04Z</dcterms:created>
  <dcterms:modified xsi:type="dcterms:W3CDTF">2026-06-09T16:00:04Z</dcterms:modified>
</cp:coreProperties>
</file>